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4"/>
  </p:notesMasterIdLst>
  <p:sldIdLst>
    <p:sldId id="256" r:id="rId2"/>
    <p:sldId id="257" r:id="rId3"/>
    <p:sldId id="258" r:id="rId4"/>
    <p:sldId id="268" r:id="rId5"/>
    <p:sldId id="259" r:id="rId6"/>
    <p:sldId id="260" r:id="rId7"/>
    <p:sldId id="261" r:id="rId8"/>
    <p:sldId id="262" r:id="rId9"/>
    <p:sldId id="263" r:id="rId10"/>
    <p:sldId id="264" r:id="rId11"/>
    <p:sldId id="265"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77737" autoAdjust="0"/>
  </p:normalViewPr>
  <p:slideViewPr>
    <p:cSldViewPr snapToGrid="0">
      <p:cViewPr varScale="1">
        <p:scale>
          <a:sx n="102" d="100"/>
          <a:sy n="102" d="100"/>
        </p:scale>
        <p:origin x="396"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6CF91C-8B87-4E98-A95A-CCBE52338B09}" type="datetimeFigureOut">
              <a:rPr lang="en-US" smtClean="0"/>
              <a:t>11/16/2023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9190B3-7D1D-4480-B3CA-806DA90C26D0}" type="slidenum">
              <a:rPr lang="en-US" smtClean="0"/>
              <a:t>‹#›</a:t>
            </a:fld>
            <a:endParaRPr lang="en-US"/>
          </a:p>
        </p:txBody>
      </p:sp>
    </p:spTree>
    <p:extLst>
      <p:ext uri="{BB962C8B-B14F-4D97-AF65-F5344CB8AC3E}">
        <p14:creationId xmlns:p14="http://schemas.microsoft.com/office/powerpoint/2010/main" val="3399110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000" dirty="0"/>
              <a:t>The Java Collection Framework, or JCF, is a vital toolkit in Java programming because it provides a comprehensive set of data structures and classes for managing a collection of objects [1]. </a:t>
            </a:r>
          </a:p>
          <a:p>
            <a:r>
              <a:rPr lang="en-US" sz="4000" dirty="0"/>
              <a:t>This principle is extremely important in object-oriented programming. JCF makes it easier to store and manipulate a broad variety of collections of objects such as lists, sets, queues, and maps. As a result, it plays an important part in a variety of software applications. </a:t>
            </a:r>
          </a:p>
          <a:p>
            <a:r>
              <a:rPr lang="en-US" sz="4000" dirty="0"/>
              <a:t>Java Collection Framework gained its significance in the early days of Java, it came with Java 12 [3]. The framework consolidated a collection of classes into a single unified framework. It brought about standardization on how to handle different data structures using Java. </a:t>
            </a:r>
          </a:p>
        </p:txBody>
      </p:sp>
      <p:sp>
        <p:nvSpPr>
          <p:cNvPr id="4" name="Slide Number Placeholder 3"/>
          <p:cNvSpPr>
            <a:spLocks noGrp="1"/>
          </p:cNvSpPr>
          <p:nvPr>
            <p:ph type="sldNum" sz="quarter" idx="5"/>
          </p:nvPr>
        </p:nvSpPr>
        <p:spPr/>
        <p:txBody>
          <a:bodyPr/>
          <a:lstStyle/>
          <a:p>
            <a:fld id="{F39190B3-7D1D-4480-B3CA-806DA90C26D0}" type="slidenum">
              <a:rPr lang="en-US" smtClean="0"/>
              <a:t>2</a:t>
            </a:fld>
            <a:endParaRPr lang="en-US"/>
          </a:p>
        </p:txBody>
      </p:sp>
    </p:spTree>
    <p:extLst>
      <p:ext uri="{BB962C8B-B14F-4D97-AF65-F5344CB8AC3E}">
        <p14:creationId xmlns:p14="http://schemas.microsoft.com/office/powerpoint/2010/main" val="2626943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 Collection Framework rose to prominence in the early days of Java, arriving with Java 12 [3]. The framework combined a number of classes into a single, cohesive framework. It resulted in standardization of how to handle various data structures in Java. The framework’s core classes include HashMaps, ArrayLists and LinkedLists [3].</a:t>
            </a:r>
          </a:p>
          <a:p>
            <a:endParaRPr lang="en-US" dirty="0"/>
          </a:p>
        </p:txBody>
      </p:sp>
      <p:sp>
        <p:nvSpPr>
          <p:cNvPr id="4" name="Slide Number Placeholder 3"/>
          <p:cNvSpPr>
            <a:spLocks noGrp="1"/>
          </p:cNvSpPr>
          <p:nvPr>
            <p:ph type="sldNum" sz="quarter" idx="5"/>
          </p:nvPr>
        </p:nvSpPr>
        <p:spPr/>
        <p:txBody>
          <a:bodyPr/>
          <a:lstStyle/>
          <a:p>
            <a:fld id="{F39190B3-7D1D-4480-B3CA-806DA90C26D0}" type="slidenum">
              <a:rPr lang="en-US" smtClean="0"/>
              <a:t>3</a:t>
            </a:fld>
            <a:endParaRPr lang="en-US"/>
          </a:p>
        </p:txBody>
      </p:sp>
    </p:spTree>
    <p:extLst>
      <p:ext uri="{BB962C8B-B14F-4D97-AF65-F5344CB8AC3E}">
        <p14:creationId xmlns:p14="http://schemas.microsoft.com/office/powerpoint/2010/main" val="392689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has experienced a number of changes since its beginnings in Java 12. Since Java 12, every major release has included updates and improved capabilities that have solidified the framework's use as an important tool for Java developers. Switch expressions were added in Java 12 with the release. This provided a more succinct and versatile approach of dealing with conditional logic. This update had a significant impact on the language syntax, but it increased the readability of code written with the framework. This was accomplished by the simplification of coding constructs. As a result, data manipulation became more elegant and intuitive.</a:t>
            </a:r>
          </a:p>
          <a:p>
            <a:endParaRPr lang="en-US" dirty="0"/>
          </a:p>
        </p:txBody>
      </p:sp>
      <p:sp>
        <p:nvSpPr>
          <p:cNvPr id="4" name="Slide Number Placeholder 3"/>
          <p:cNvSpPr>
            <a:spLocks noGrp="1"/>
          </p:cNvSpPr>
          <p:nvPr>
            <p:ph type="sldNum" sz="quarter" idx="5"/>
          </p:nvPr>
        </p:nvSpPr>
        <p:spPr/>
        <p:txBody>
          <a:bodyPr/>
          <a:lstStyle/>
          <a:p>
            <a:fld id="{F39190B3-7D1D-4480-B3CA-806DA90C26D0}" type="slidenum">
              <a:rPr lang="en-US" smtClean="0"/>
              <a:t>4</a:t>
            </a:fld>
            <a:endParaRPr lang="en-US"/>
          </a:p>
        </p:txBody>
      </p:sp>
    </p:spTree>
    <p:extLst>
      <p:ext uri="{BB962C8B-B14F-4D97-AF65-F5344CB8AC3E}">
        <p14:creationId xmlns:p14="http://schemas.microsoft.com/office/powerpoint/2010/main" val="1474064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release of Java 14, the framework continues to evolve. This release marked a significant enhancement in the framework's immutability characteristics. </a:t>
            </a:r>
          </a:p>
          <a:p>
            <a:r>
              <a:rPr lang="en-US" dirty="0"/>
              <a:t>The "of" factory methods, which are used to generate immutable collections, were introduced in this release. This was a substantial improvement to the framework. </a:t>
            </a:r>
          </a:p>
          <a:p>
            <a:r>
              <a:rPr lang="en-US" dirty="0"/>
              <a:t>It ensures data integrity and safety in a variety of applications, particularly multi-threaded applications. As a result, they are critical in modern software development.</a:t>
            </a:r>
          </a:p>
          <a:p>
            <a:r>
              <a:rPr lang="en-US" dirty="0"/>
              <a:t> The upgrades continue to improve the language, the framework, and the libraries. As a result, the Java Collection Framework becomes more relevant and valuable in current software engineering.</a:t>
            </a:r>
          </a:p>
          <a:p>
            <a:endParaRPr lang="en-US" dirty="0"/>
          </a:p>
        </p:txBody>
      </p:sp>
      <p:sp>
        <p:nvSpPr>
          <p:cNvPr id="4" name="Slide Number Placeholder 3"/>
          <p:cNvSpPr>
            <a:spLocks noGrp="1"/>
          </p:cNvSpPr>
          <p:nvPr>
            <p:ph type="sldNum" sz="quarter" idx="5"/>
          </p:nvPr>
        </p:nvSpPr>
        <p:spPr/>
        <p:txBody>
          <a:bodyPr/>
          <a:lstStyle/>
          <a:p>
            <a:fld id="{F39190B3-7D1D-4480-B3CA-806DA90C26D0}" type="slidenum">
              <a:rPr lang="en-US" smtClean="0"/>
              <a:t>5</a:t>
            </a:fld>
            <a:endParaRPr lang="en-US"/>
          </a:p>
        </p:txBody>
      </p:sp>
    </p:spTree>
    <p:extLst>
      <p:ext uri="{BB962C8B-B14F-4D97-AF65-F5344CB8AC3E}">
        <p14:creationId xmlns:p14="http://schemas.microsoft.com/office/powerpoint/2010/main" val="3628548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Data, microservices, and cloud computing are driving the modern world. Because of its versatility and efficiency, the framework is in high demand in such applications. Businesses and organizations now rely on big data as an essential component of their decision-making processes. The Java Collection Framework has been used to create a number of technologies, including Hadoop and Spark, which have considerably enhanced data processing [2]. </a:t>
            </a:r>
          </a:p>
        </p:txBody>
      </p:sp>
      <p:sp>
        <p:nvSpPr>
          <p:cNvPr id="4" name="Slide Number Placeholder 3"/>
          <p:cNvSpPr>
            <a:spLocks noGrp="1"/>
          </p:cNvSpPr>
          <p:nvPr>
            <p:ph type="sldNum" sz="quarter" idx="5"/>
          </p:nvPr>
        </p:nvSpPr>
        <p:spPr/>
        <p:txBody>
          <a:bodyPr/>
          <a:lstStyle/>
          <a:p>
            <a:fld id="{F39190B3-7D1D-4480-B3CA-806DA90C26D0}" type="slidenum">
              <a:rPr lang="en-US" smtClean="0"/>
              <a:t>6</a:t>
            </a:fld>
            <a:endParaRPr lang="en-US"/>
          </a:p>
        </p:txBody>
      </p:sp>
    </p:spTree>
    <p:extLst>
      <p:ext uri="{BB962C8B-B14F-4D97-AF65-F5344CB8AC3E}">
        <p14:creationId xmlns:p14="http://schemas.microsoft.com/office/powerpoint/2010/main" val="4066280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has been accomplished because the framework allows for the storing and analysis of large datasets. The framework efficiently manages data storage and retrieval. Data processing processes in distributed systems like Hadoop rely on the framework's data manipulation functionality. In this context, the Hadoop MapReduce paradigm provides the capacity to efficiently manage data processing during the reduction phase [2]. </a:t>
            </a:r>
          </a:p>
        </p:txBody>
      </p:sp>
      <p:sp>
        <p:nvSpPr>
          <p:cNvPr id="4" name="Slide Number Placeholder 3"/>
          <p:cNvSpPr>
            <a:spLocks noGrp="1"/>
          </p:cNvSpPr>
          <p:nvPr>
            <p:ph type="sldNum" sz="quarter" idx="5"/>
          </p:nvPr>
        </p:nvSpPr>
        <p:spPr/>
        <p:txBody>
          <a:bodyPr/>
          <a:lstStyle/>
          <a:p>
            <a:fld id="{F39190B3-7D1D-4480-B3CA-806DA90C26D0}" type="slidenum">
              <a:rPr lang="en-US" smtClean="0"/>
              <a:t>7</a:t>
            </a:fld>
            <a:endParaRPr lang="en-US"/>
          </a:p>
        </p:txBody>
      </p:sp>
    </p:spTree>
    <p:extLst>
      <p:ext uri="{BB962C8B-B14F-4D97-AF65-F5344CB8AC3E}">
        <p14:creationId xmlns:p14="http://schemas.microsoft.com/office/powerpoint/2010/main" val="960247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computing platforms are also using the Java Collection Framework [2]. The market leaders in this domain, Amazon Web Services and Microsoft Azure, have integrated the Java Collection Framework into their software development kits and other services. The integration's goal is to make data administration easier for developers creating cloud-based apps. When storing data in the cloud, for example, the storage configuration data is S3 bucket in Amazon Web Services, or when managing key-value pairs in a NoSQL database such as Mongo DB, the Java Collection Framework provides the essential tools. This simplifies cloud storage. </a:t>
            </a:r>
          </a:p>
        </p:txBody>
      </p:sp>
      <p:sp>
        <p:nvSpPr>
          <p:cNvPr id="4" name="Slide Number Placeholder 3"/>
          <p:cNvSpPr>
            <a:spLocks noGrp="1"/>
          </p:cNvSpPr>
          <p:nvPr>
            <p:ph type="sldNum" sz="quarter" idx="5"/>
          </p:nvPr>
        </p:nvSpPr>
        <p:spPr/>
        <p:txBody>
          <a:bodyPr/>
          <a:lstStyle/>
          <a:p>
            <a:fld id="{F39190B3-7D1D-4480-B3CA-806DA90C26D0}" type="slidenum">
              <a:rPr lang="en-US" smtClean="0"/>
              <a:t>8</a:t>
            </a:fld>
            <a:endParaRPr lang="en-US"/>
          </a:p>
        </p:txBody>
      </p:sp>
    </p:spTree>
    <p:extLst>
      <p:ext uri="{BB962C8B-B14F-4D97-AF65-F5344CB8AC3E}">
        <p14:creationId xmlns:p14="http://schemas.microsoft.com/office/powerpoint/2010/main" val="2271134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framework's capabilities have also had an impact on the rising use of microservices architecture. Microservices explain how modern applications are designed and distributed [4]. It enables lightweight and self-contained components. To accomplish this, data sharing and management must be extremely efficient. The Java Collection Framework comes into play here. Because of its versatility and performance, the framework is ideal for microservices development. As a result, the framework optimizes data access between diverse services by enabling effective data storage and retrieval [4]. As a result, the framework is adaptive to current software development trends. Making it beneficial in a variety of use scenarios like as Big Data, Microservices, and Cloud Computing. </a:t>
            </a:r>
          </a:p>
        </p:txBody>
      </p:sp>
      <p:sp>
        <p:nvSpPr>
          <p:cNvPr id="4" name="Slide Number Placeholder 3"/>
          <p:cNvSpPr>
            <a:spLocks noGrp="1"/>
          </p:cNvSpPr>
          <p:nvPr>
            <p:ph type="sldNum" sz="quarter" idx="5"/>
          </p:nvPr>
        </p:nvSpPr>
        <p:spPr/>
        <p:txBody>
          <a:bodyPr/>
          <a:lstStyle/>
          <a:p>
            <a:fld id="{F39190B3-7D1D-4480-B3CA-806DA90C26D0}" type="slidenum">
              <a:rPr lang="en-US" smtClean="0"/>
              <a:t>9</a:t>
            </a:fld>
            <a:endParaRPr lang="en-US"/>
          </a:p>
        </p:txBody>
      </p:sp>
    </p:spTree>
    <p:extLst>
      <p:ext uri="{BB962C8B-B14F-4D97-AF65-F5344CB8AC3E}">
        <p14:creationId xmlns:p14="http://schemas.microsoft.com/office/powerpoint/2010/main" val="2345750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its numerous applications and benefits, the framework confronts numerous obstacles in the context of software development. The absence of built-in support for persistent data structures is one of the framework's challenges. These persistent data structures allow applications to store and generate previous data versions. These data structures are essential in applications like version control systems. Because Java's standard collection classes do not provide permanent data structures, this is the case. This forces developers to consider alternatives such as customizing solutions or relying on third-party libraries. These add complexity and are potential sources of error when running the program, which can have a substantial impact on performance. </a:t>
            </a:r>
          </a:p>
        </p:txBody>
      </p:sp>
      <p:sp>
        <p:nvSpPr>
          <p:cNvPr id="4" name="Slide Number Placeholder 3"/>
          <p:cNvSpPr>
            <a:spLocks noGrp="1"/>
          </p:cNvSpPr>
          <p:nvPr>
            <p:ph type="sldNum" sz="quarter" idx="5"/>
          </p:nvPr>
        </p:nvSpPr>
        <p:spPr/>
        <p:txBody>
          <a:bodyPr/>
          <a:lstStyle/>
          <a:p>
            <a:fld id="{F39190B3-7D1D-4480-B3CA-806DA90C26D0}" type="slidenum">
              <a:rPr lang="en-US" smtClean="0"/>
              <a:t>10</a:t>
            </a:fld>
            <a:endParaRPr lang="en-US"/>
          </a:p>
        </p:txBody>
      </p:sp>
    </p:spTree>
    <p:extLst>
      <p:ext uri="{BB962C8B-B14F-4D97-AF65-F5344CB8AC3E}">
        <p14:creationId xmlns:p14="http://schemas.microsoft.com/office/powerpoint/2010/main" val="35087922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difficulty is related to parallelism. Parallelism in Java refers to breaking down a problem into subproblems and solving each one concurrently before integrating the results. For concurrent data structures, Java only provides the 'java.util.concurrent' package. This, however, is only applicable in a subset of operations. Not every standard collection can be parallelized. When iterating over members in a List, for example, where each element involves a sophisticated operation, the advantages of multi-core processors are not completely exploited. This causes performance concerns, making the framework unsuitable for multi-threaded applications [4]. </a:t>
            </a:r>
          </a:p>
        </p:txBody>
      </p:sp>
      <p:sp>
        <p:nvSpPr>
          <p:cNvPr id="4" name="Slide Number Placeholder 3"/>
          <p:cNvSpPr>
            <a:spLocks noGrp="1"/>
          </p:cNvSpPr>
          <p:nvPr>
            <p:ph type="sldNum" sz="quarter" idx="5"/>
          </p:nvPr>
        </p:nvSpPr>
        <p:spPr/>
        <p:txBody>
          <a:bodyPr/>
          <a:lstStyle/>
          <a:p>
            <a:fld id="{F39190B3-7D1D-4480-B3CA-806DA90C26D0}" type="slidenum">
              <a:rPr lang="en-US" smtClean="0"/>
              <a:t>11</a:t>
            </a:fld>
            <a:endParaRPr lang="en-US"/>
          </a:p>
        </p:txBody>
      </p:sp>
    </p:spTree>
    <p:extLst>
      <p:ext uri="{BB962C8B-B14F-4D97-AF65-F5344CB8AC3E}">
        <p14:creationId xmlns:p14="http://schemas.microsoft.com/office/powerpoint/2010/main" val="1520134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9190B3-7D1D-4480-B3CA-806DA90C26D0}" type="slidenum">
              <a:rPr lang="en-US" smtClean="0"/>
              <a:t>12</a:t>
            </a:fld>
            <a:endParaRPr lang="en-US"/>
          </a:p>
        </p:txBody>
      </p:sp>
    </p:spTree>
    <p:extLst>
      <p:ext uri="{BB962C8B-B14F-4D97-AF65-F5344CB8AC3E}">
        <p14:creationId xmlns:p14="http://schemas.microsoft.com/office/powerpoint/2010/main" val="4020720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CFA8EA-231E-4FC3-99A2-24F7B47ECA3E}" type="datetimeFigureOut">
              <a:rPr lang="en-US" smtClean="0"/>
              <a:t>11/16/2023</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1850633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CFA8EA-231E-4FC3-99A2-24F7B47ECA3E}" type="datetimeFigureOut">
              <a:rPr lang="en-US" smtClean="0"/>
              <a:t>11/16/2023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2580918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CFA8EA-231E-4FC3-99A2-24F7B47ECA3E}" type="datetimeFigureOut">
              <a:rPr lang="en-US" smtClean="0"/>
              <a:t>11/16/2023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2660952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CFA8EA-231E-4FC3-99A2-24F7B47ECA3E}" type="datetimeFigureOut">
              <a:rPr lang="en-US" smtClean="0"/>
              <a:t>11/16/2023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3212044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CFA8EA-231E-4FC3-99A2-24F7B47ECA3E}" type="datetimeFigureOut">
              <a:rPr lang="en-US" smtClean="0"/>
              <a:t>11/16/2023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1994689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CFA8EA-231E-4FC3-99A2-24F7B47ECA3E}" type="datetimeFigureOut">
              <a:rPr lang="en-US" smtClean="0"/>
              <a:t>11/16/2023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1733111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CFA8EA-231E-4FC3-99A2-24F7B47ECA3E}" type="datetimeFigureOut">
              <a:rPr lang="en-US" smtClean="0"/>
              <a:t>11/16/2023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1884166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CFA8EA-231E-4FC3-99A2-24F7B47ECA3E}" type="datetimeFigureOut">
              <a:rPr lang="en-US" smtClean="0"/>
              <a:t>11/16/2023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245225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CFA8EA-231E-4FC3-99A2-24F7B47ECA3E}" type="datetimeFigureOut">
              <a:rPr lang="en-US" smtClean="0"/>
              <a:t>11/16/2023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186330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CFA8EA-231E-4FC3-99A2-24F7B47ECA3E}" type="datetimeFigureOut">
              <a:rPr lang="en-US" smtClean="0"/>
              <a:t>11/16/2023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4120525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CFA8EA-231E-4FC3-99A2-24F7B47ECA3E}" type="datetimeFigureOut">
              <a:rPr lang="en-US" smtClean="0"/>
              <a:t>11/16/2023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23457516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CFA8EA-231E-4FC3-99A2-24F7B47ECA3E}" type="datetimeFigureOut">
              <a:rPr lang="en-US" smtClean="0"/>
              <a:t>11/16/2023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27623481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CFA8EA-231E-4FC3-99A2-24F7B47ECA3E}" type="datetimeFigureOut">
              <a:rPr lang="en-US" smtClean="0"/>
              <a:t>11/16/2023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19495021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CFA8EA-231E-4FC3-99A2-24F7B47ECA3E}" type="datetimeFigureOut">
              <a:rPr lang="en-US" smtClean="0"/>
              <a:t>11/16/2023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42397514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CFA8EA-231E-4FC3-99A2-24F7B47ECA3E}" type="datetimeFigureOut">
              <a:rPr lang="en-US" smtClean="0"/>
              <a:t>11/16/2023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26663675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CFA8EA-231E-4FC3-99A2-24F7B47ECA3E}" type="datetimeFigureOut">
              <a:rPr lang="en-US" smtClean="0"/>
              <a:t>11/16/2023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38854728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CFA8EA-231E-4FC3-99A2-24F7B47ECA3E}" type="datetimeFigureOut">
              <a:rPr lang="en-US" smtClean="0"/>
              <a:t>11/16/2023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782E8-2B89-4AB5-89A6-C1CCE91C5A3C}" type="slidenum">
              <a:rPr lang="en-US" smtClean="0"/>
              <a:t>‹#›</a:t>
            </a:fld>
            <a:endParaRPr lang="en-US"/>
          </a:p>
        </p:txBody>
      </p:sp>
    </p:spTree>
    <p:extLst>
      <p:ext uri="{BB962C8B-B14F-4D97-AF65-F5344CB8AC3E}">
        <p14:creationId xmlns:p14="http://schemas.microsoft.com/office/powerpoint/2010/main" val="1702378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4CFA8EA-231E-4FC3-99A2-24F7B47ECA3E}" type="datetimeFigureOut">
              <a:rPr lang="en-US" smtClean="0"/>
              <a:t>11/16/2023</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F6782E8-2B89-4AB5-89A6-C1CCE91C5A3C}" type="slidenum">
              <a:rPr lang="en-US" smtClean="0"/>
              <a:t>‹#›</a:t>
            </a:fld>
            <a:endParaRPr lang="en-US"/>
          </a:p>
        </p:txBody>
      </p:sp>
    </p:spTree>
    <p:extLst>
      <p:ext uri="{BB962C8B-B14F-4D97-AF65-F5344CB8AC3E}">
        <p14:creationId xmlns:p14="http://schemas.microsoft.com/office/powerpoint/2010/main" val="149263867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011B2-1EBE-49B3-B31B-C72E9A1FCD57}"/>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Java Collection Framework</a:t>
            </a:r>
          </a:p>
        </p:txBody>
      </p:sp>
      <p:sp>
        <p:nvSpPr>
          <p:cNvPr id="3" name="Subtitle 2">
            <a:extLst>
              <a:ext uri="{FF2B5EF4-FFF2-40B4-BE49-F238E27FC236}">
                <a16:creationId xmlns:a16="http://schemas.microsoft.com/office/drawing/2014/main" id="{19084DD1-0E44-4589-8436-4013EEA9DF70}"/>
              </a:ext>
            </a:extLst>
          </p:cNvPr>
          <p:cNvSpPr>
            <a:spLocks noGrp="1"/>
          </p:cNvSpPr>
          <p:nvPr>
            <p:ph type="subTitle" idx="1"/>
          </p:nvPr>
        </p:nvSpPr>
        <p:spPr/>
        <p:txBody>
          <a:bodyPr/>
          <a:lstStyle/>
          <a:p>
            <a:r>
              <a:rPr lang="en-US">
                <a:latin typeface="Times New Roman" panose="02020603050405020304" pitchFamily="18" charset="0"/>
                <a:cs typeface="Times New Roman" panose="02020603050405020304" pitchFamily="18" charset="0"/>
              </a:rPr>
              <a:t>Abdul Mannan Mohammed</a:t>
            </a:r>
            <a:endParaRPr lang="en-US" dirty="0">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SE450: Object Oriented Software Development</a:t>
            </a:r>
            <a:endParaRPr lang="en-US" dirty="0">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11-11-2023</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241706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7369D-5353-4060-9DD6-B69A2F8BFB88}"/>
              </a:ext>
            </a:extLst>
          </p:cNvPr>
          <p:cNvSpPr>
            <a:spLocks noGrp="1"/>
          </p:cNvSpPr>
          <p:nvPr>
            <p:ph type="title"/>
          </p:nvPr>
        </p:nvSpPr>
        <p:spPr>
          <a:xfrm>
            <a:off x="838200" y="365125"/>
            <a:ext cx="10515600" cy="986597"/>
          </a:xfrm>
        </p:spPr>
        <p:txBody>
          <a:bodyPr/>
          <a:lstStyle/>
          <a:p>
            <a:pPr algn="ctr"/>
            <a:r>
              <a:rPr lang="en-US"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AFA7B617-A98C-4E90-8A43-3BA21383FB25}"/>
              </a:ext>
            </a:extLst>
          </p:cNvPr>
          <p:cNvSpPr>
            <a:spLocks noGrp="1"/>
          </p:cNvSpPr>
          <p:nvPr>
            <p:ph idx="1"/>
          </p:nvPr>
        </p:nvSpPr>
        <p:spPr>
          <a:xfrm>
            <a:off x="838200" y="1497496"/>
            <a:ext cx="10515600" cy="4782534"/>
          </a:xfrm>
        </p:spPr>
        <p:txBody>
          <a:bodyPr/>
          <a:lstStyle/>
          <a:p>
            <a:r>
              <a:rPr lang="en-US" dirty="0">
                <a:latin typeface="Times New Roman" panose="02020603050405020304" pitchFamily="18" charset="0"/>
                <a:cs typeface="Times New Roman" panose="02020603050405020304" pitchFamily="18" charset="0"/>
              </a:rPr>
              <a:t>Java Collection Framework is a vital toolkit in Java programming as it provides a comprehensive set of data structures and classes for managing various data objects. </a:t>
            </a:r>
          </a:p>
          <a:p>
            <a:r>
              <a:rPr lang="en-US" dirty="0">
                <a:latin typeface="Times New Roman" panose="02020603050405020304" pitchFamily="18" charset="0"/>
                <a:cs typeface="Times New Roman" panose="02020603050405020304" pitchFamily="18" charset="0"/>
              </a:rPr>
              <a:t>It was first released with Java 12.</a:t>
            </a:r>
          </a:p>
          <a:p>
            <a:r>
              <a:rPr lang="en-US" dirty="0">
                <a:latin typeface="Times New Roman" panose="02020603050405020304" pitchFamily="18" charset="0"/>
                <a:cs typeface="Times New Roman" panose="02020603050405020304" pitchFamily="18" charset="0"/>
              </a:rPr>
              <a:t>It makes it easier to store and manipulate a wide variety of collections of objects. </a:t>
            </a:r>
          </a:p>
          <a:p>
            <a:r>
              <a:rPr lang="en-US" dirty="0">
                <a:latin typeface="Times New Roman" panose="02020603050405020304" pitchFamily="18" charset="0"/>
                <a:cs typeface="Times New Roman" panose="02020603050405020304" pitchFamily="18" charset="0"/>
              </a:rPr>
              <a:t>These objects include lists, sets, queues and maps. </a:t>
            </a:r>
          </a:p>
        </p:txBody>
      </p:sp>
    </p:spTree>
    <p:extLst>
      <p:ext uri="{BB962C8B-B14F-4D97-AF65-F5344CB8AC3E}">
        <p14:creationId xmlns:p14="http://schemas.microsoft.com/office/powerpoint/2010/main" val="35501341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E2FF-98D6-4280-A3F0-64BC6BE9D45B}"/>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Development and Evolution</a:t>
            </a:r>
          </a:p>
        </p:txBody>
      </p:sp>
      <p:sp>
        <p:nvSpPr>
          <p:cNvPr id="3" name="Content Placeholder 2">
            <a:extLst>
              <a:ext uri="{FF2B5EF4-FFF2-40B4-BE49-F238E27FC236}">
                <a16:creationId xmlns:a16="http://schemas.microsoft.com/office/drawing/2014/main" id="{55A53EA2-D54D-4A36-8F70-E6B5C78C7C2D}"/>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Java Collection Framework was first introduced in Java 12.</a:t>
            </a:r>
          </a:p>
          <a:p>
            <a:r>
              <a:rPr lang="en-US" dirty="0">
                <a:latin typeface="Times New Roman" panose="02020603050405020304" pitchFamily="18" charset="0"/>
                <a:cs typeface="Times New Roman" panose="02020603050405020304" pitchFamily="18" charset="0"/>
              </a:rPr>
              <a:t>Starting with Java 12 the framework has gotten better and better.</a:t>
            </a:r>
          </a:p>
          <a:p>
            <a:r>
              <a:rPr lang="en-US" dirty="0">
                <a:latin typeface="Times New Roman" panose="02020603050405020304" pitchFamily="18" charset="0"/>
                <a:cs typeface="Times New Roman" panose="02020603050405020304" pitchFamily="18" charset="0"/>
              </a:rPr>
              <a:t>The framework combined a number of classes into a single, cohesive framework.</a:t>
            </a:r>
          </a:p>
          <a:p>
            <a:r>
              <a:rPr lang="en-US" dirty="0">
                <a:latin typeface="Times New Roman" panose="02020603050405020304" pitchFamily="18" charset="0"/>
                <a:cs typeface="Times New Roman" panose="02020603050405020304" pitchFamily="18" charset="0"/>
              </a:rPr>
              <a:t>The core classes include: Hash Maps, Array Lists and Linked Lists.</a:t>
            </a:r>
          </a:p>
          <a:p>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AEC4C77-CA9E-44A5-8154-D906D5B88D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5530" y="0"/>
            <a:ext cx="7142857" cy="3904762"/>
          </a:xfrm>
          <a:prstGeom prst="rect">
            <a:avLst/>
          </a:prstGeom>
        </p:spPr>
      </p:pic>
    </p:spTree>
    <p:extLst>
      <p:ext uri="{BB962C8B-B14F-4D97-AF65-F5344CB8AC3E}">
        <p14:creationId xmlns:p14="http://schemas.microsoft.com/office/powerpoint/2010/main" val="406870994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E627AD-A653-4637-A24F-7955D820D95A}"/>
              </a:ext>
            </a:extLst>
          </p:cNvPr>
          <p:cNvSpPr>
            <a:spLocks noGrp="1"/>
          </p:cNvSpPr>
          <p:nvPr>
            <p:ph idx="1"/>
          </p:nvPr>
        </p:nvSpPr>
        <p:spPr>
          <a:xfrm>
            <a:off x="838200" y="638355"/>
            <a:ext cx="10515600" cy="5538608"/>
          </a:xfrm>
        </p:spPr>
        <p:txBody>
          <a:bodyPr/>
          <a:lstStyle/>
          <a:p>
            <a:r>
              <a:rPr lang="en-US" dirty="0">
                <a:latin typeface="Times New Roman" panose="02020603050405020304" pitchFamily="18" charset="0"/>
                <a:cs typeface="Times New Roman" panose="02020603050405020304" pitchFamily="18" charset="0"/>
              </a:rPr>
              <a:t>Every major release of Java since Java 12 has sought to make the framework better and better.</a:t>
            </a:r>
          </a:p>
          <a:p>
            <a:r>
              <a:rPr lang="en-US" dirty="0">
                <a:latin typeface="Times New Roman" panose="02020603050405020304" pitchFamily="18" charset="0"/>
                <a:cs typeface="Times New Roman" panose="02020603050405020304" pitchFamily="18" charset="0"/>
              </a:rPr>
              <a:t>This is aimed at making it relevant and applicable to the ever changing technological landscape.</a:t>
            </a:r>
          </a:p>
          <a:p>
            <a:r>
              <a:rPr lang="en-US" dirty="0">
                <a:latin typeface="Times New Roman" panose="02020603050405020304" pitchFamily="18" charset="0"/>
                <a:cs typeface="Times New Roman" panose="02020603050405020304" pitchFamily="18" charset="0"/>
              </a:rPr>
              <a:t>With Java 12 release, Switch expressions were added. It interfered with the syntax but greatly improved the readability of the code.</a:t>
            </a:r>
          </a:p>
          <a:p>
            <a:r>
              <a:rPr lang="en-US" dirty="0">
                <a:latin typeface="Times New Roman" panose="02020603050405020304" pitchFamily="18" charset="0"/>
                <a:cs typeface="Times New Roman" panose="02020603050405020304" pitchFamily="18" charset="0"/>
              </a:rPr>
              <a:t>As a result, data manipulation became more elegant and intuitive </a:t>
            </a:r>
          </a:p>
        </p:txBody>
      </p:sp>
    </p:spTree>
    <p:extLst>
      <p:ext uri="{BB962C8B-B14F-4D97-AF65-F5344CB8AC3E}">
        <p14:creationId xmlns:p14="http://schemas.microsoft.com/office/powerpoint/2010/main" val="3069339642"/>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2DACA0-E598-43F1-BD42-49D7A98E42C1}"/>
              </a:ext>
            </a:extLst>
          </p:cNvPr>
          <p:cNvSpPr>
            <a:spLocks noGrp="1"/>
          </p:cNvSpPr>
          <p:nvPr>
            <p:ph idx="1"/>
          </p:nvPr>
        </p:nvSpPr>
        <p:spPr>
          <a:xfrm>
            <a:off x="1487557" y="0"/>
            <a:ext cx="10515600" cy="5573114"/>
          </a:xfrm>
        </p:spPr>
        <p:txBody>
          <a:bodyPr/>
          <a:lstStyle/>
          <a:p>
            <a:r>
              <a:rPr lang="en-US" dirty="0">
                <a:latin typeface="Times New Roman" panose="02020603050405020304" pitchFamily="18" charset="0"/>
                <a:cs typeface="Times New Roman" panose="02020603050405020304" pitchFamily="18" charset="0"/>
              </a:rPr>
              <a:t>Java 14 continued to improve the framework.</a:t>
            </a:r>
          </a:p>
          <a:p>
            <a:r>
              <a:rPr lang="en-US" dirty="0">
                <a:latin typeface="Times New Roman" panose="02020603050405020304" pitchFamily="18" charset="0"/>
                <a:cs typeface="Times New Roman" panose="02020603050405020304" pitchFamily="18" charset="0"/>
              </a:rPr>
              <a:t>The release marked a significant enhancement in the framework's immutability characteristics. </a:t>
            </a:r>
          </a:p>
          <a:p>
            <a:r>
              <a:rPr lang="en-US" dirty="0">
                <a:latin typeface="Times New Roman" panose="02020603050405020304" pitchFamily="18" charset="0"/>
                <a:cs typeface="Times New Roman" panose="02020603050405020304" pitchFamily="18" charset="0"/>
              </a:rPr>
              <a:t>The "of" factory methods, which are used to generate immutable collections, were introduced in this release.</a:t>
            </a:r>
          </a:p>
          <a:p>
            <a:r>
              <a:rPr lang="en-US" dirty="0">
                <a:latin typeface="Times New Roman" panose="02020603050405020304" pitchFamily="18" charset="0"/>
                <a:cs typeface="Times New Roman" panose="02020603050405020304" pitchFamily="18" charset="0"/>
              </a:rPr>
              <a:t>The Java Collection Framework therefore became more relevant and valuable in current software engineering.</a:t>
            </a:r>
          </a:p>
          <a:p>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2B5B7EF-76C4-4202-9B58-6300FB6E1E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8803" y="4214192"/>
            <a:ext cx="5418290" cy="2183905"/>
          </a:xfrm>
          <a:prstGeom prst="rect">
            <a:avLst/>
          </a:prstGeom>
        </p:spPr>
      </p:pic>
    </p:spTree>
    <p:extLst>
      <p:ext uri="{BB962C8B-B14F-4D97-AF65-F5344CB8AC3E}">
        <p14:creationId xmlns:p14="http://schemas.microsoft.com/office/powerpoint/2010/main" val="301723090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F7E3F-6537-460F-A67C-F31691712E1E}"/>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JCF Applications</a:t>
            </a:r>
          </a:p>
        </p:txBody>
      </p:sp>
      <p:sp>
        <p:nvSpPr>
          <p:cNvPr id="3" name="Content Placeholder 2">
            <a:extLst>
              <a:ext uri="{FF2B5EF4-FFF2-40B4-BE49-F238E27FC236}">
                <a16:creationId xmlns:a16="http://schemas.microsoft.com/office/drawing/2014/main" id="{9EB8EC7D-5143-4E4A-B13E-FB9CC54BCA54}"/>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Due to its versatility and efficiency, the framework can be used in the following applications.</a:t>
            </a:r>
          </a:p>
          <a:p>
            <a:r>
              <a:rPr lang="en-US" dirty="0">
                <a:latin typeface="Times New Roman" panose="02020603050405020304" pitchFamily="18" charset="0"/>
                <a:cs typeface="Times New Roman" panose="02020603050405020304" pitchFamily="18" charset="0"/>
              </a:rPr>
              <a:t>Big Data</a:t>
            </a:r>
          </a:p>
          <a:p>
            <a:r>
              <a:rPr lang="en-US" dirty="0">
                <a:latin typeface="Times New Roman" panose="02020603050405020304" pitchFamily="18" charset="0"/>
                <a:cs typeface="Times New Roman" panose="02020603050405020304" pitchFamily="18" charset="0"/>
              </a:rPr>
              <a:t>Cloud Computing</a:t>
            </a:r>
          </a:p>
          <a:p>
            <a:r>
              <a:rPr lang="en-US" dirty="0">
                <a:latin typeface="Times New Roman" panose="02020603050405020304" pitchFamily="18" charset="0"/>
                <a:cs typeface="Times New Roman" panose="02020603050405020304" pitchFamily="18" charset="0"/>
              </a:rPr>
              <a:t>Microservices</a:t>
            </a:r>
          </a:p>
        </p:txBody>
      </p:sp>
    </p:spTree>
    <p:extLst>
      <p:ext uri="{BB962C8B-B14F-4D97-AF65-F5344CB8AC3E}">
        <p14:creationId xmlns:p14="http://schemas.microsoft.com/office/powerpoint/2010/main" val="80165526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B5CC-8888-44F8-92F5-68B6D26103DD}"/>
              </a:ext>
            </a:extLst>
          </p:cNvPr>
          <p:cNvSpPr>
            <a:spLocks noGrp="1"/>
          </p:cNvSpPr>
          <p:nvPr>
            <p:ph type="title"/>
          </p:nvPr>
        </p:nvSpPr>
        <p:spPr>
          <a:xfrm>
            <a:off x="1484310" y="420584"/>
            <a:ext cx="10018713" cy="1752599"/>
          </a:xfrm>
        </p:spPr>
        <p:txBody>
          <a:bodyPr/>
          <a:lstStyle/>
          <a:p>
            <a:pPr algn="ctr"/>
            <a:r>
              <a:rPr lang="en-US" b="1" dirty="0">
                <a:latin typeface="Times New Roman" panose="02020603050405020304" pitchFamily="18" charset="0"/>
                <a:cs typeface="Times New Roman" panose="02020603050405020304" pitchFamily="18" charset="0"/>
              </a:rPr>
              <a:t>Big Data</a:t>
            </a:r>
          </a:p>
        </p:txBody>
      </p:sp>
      <p:sp>
        <p:nvSpPr>
          <p:cNvPr id="3" name="Content Placeholder 2">
            <a:extLst>
              <a:ext uri="{FF2B5EF4-FFF2-40B4-BE49-F238E27FC236}">
                <a16:creationId xmlns:a16="http://schemas.microsoft.com/office/drawing/2014/main" id="{DA344F07-AD7D-44C9-9525-8895034EE00B}"/>
              </a:ext>
            </a:extLst>
          </p:cNvPr>
          <p:cNvSpPr>
            <a:spLocks noGrp="1"/>
          </p:cNvSpPr>
          <p:nvPr>
            <p:ph idx="1"/>
          </p:nvPr>
        </p:nvSpPr>
        <p:spPr>
          <a:xfrm>
            <a:off x="1484310" y="2666999"/>
            <a:ext cx="6082681" cy="3124201"/>
          </a:xfrm>
        </p:spPr>
        <p:txBody>
          <a:bodyPr>
            <a:normAutofit lnSpcReduction="10000"/>
          </a:bodyPr>
          <a:lstStyle/>
          <a:p>
            <a:r>
              <a:rPr lang="en-US" dirty="0">
                <a:latin typeface="Times New Roman" panose="02020603050405020304" pitchFamily="18" charset="0"/>
                <a:cs typeface="Times New Roman" panose="02020603050405020304" pitchFamily="18" charset="0"/>
              </a:rPr>
              <a:t>Through Java Collection Framework large datasets are able to be stored and analyzed efficiently and accurately.</a:t>
            </a:r>
          </a:p>
          <a:p>
            <a:r>
              <a:rPr lang="en-US" dirty="0">
                <a:latin typeface="Times New Roman" panose="02020603050405020304" pitchFamily="18" charset="0"/>
                <a:cs typeface="Times New Roman" panose="02020603050405020304" pitchFamily="18" charset="0"/>
              </a:rPr>
              <a:t>The framework efficiently manages data storage and retrieval.</a:t>
            </a:r>
          </a:p>
          <a:p>
            <a:r>
              <a:rPr lang="en-US" dirty="0">
                <a:latin typeface="Times New Roman" panose="02020603050405020304" pitchFamily="18" charset="0"/>
                <a:cs typeface="Times New Roman" panose="02020603050405020304" pitchFamily="18" charset="0"/>
              </a:rPr>
              <a:t>Data processing processes in distributed systems like Hadoop rely on the framework's data manipulation functionality</a:t>
            </a:r>
          </a:p>
          <a:p>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393C31F-14EE-4A1B-8CDD-67F1EED698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6991" y="2173183"/>
            <a:ext cx="4238973" cy="3618017"/>
          </a:xfrm>
          <a:prstGeom prst="rect">
            <a:avLst/>
          </a:prstGeom>
        </p:spPr>
      </p:pic>
    </p:spTree>
    <p:extLst>
      <p:ext uri="{BB962C8B-B14F-4D97-AF65-F5344CB8AC3E}">
        <p14:creationId xmlns:p14="http://schemas.microsoft.com/office/powerpoint/2010/main" val="272054847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46F2F-099C-4E91-9EAC-54C4F7484DCF}"/>
              </a:ext>
            </a:extLst>
          </p:cNvPr>
          <p:cNvSpPr>
            <a:spLocks noGrp="1"/>
          </p:cNvSpPr>
          <p:nvPr>
            <p:ph type="title"/>
          </p:nvPr>
        </p:nvSpPr>
        <p:spPr>
          <a:xfrm>
            <a:off x="1484310" y="367748"/>
            <a:ext cx="10018713" cy="1752599"/>
          </a:xfrm>
        </p:spPr>
        <p:txBody>
          <a:bodyPr/>
          <a:lstStyle/>
          <a:p>
            <a:pPr algn="ctr"/>
            <a:r>
              <a:rPr lang="en-US" b="1" dirty="0">
                <a:latin typeface="Times New Roman" panose="02020603050405020304" pitchFamily="18" charset="0"/>
                <a:cs typeface="Times New Roman" panose="02020603050405020304" pitchFamily="18" charset="0"/>
              </a:rPr>
              <a:t>Cloud Computing</a:t>
            </a:r>
          </a:p>
        </p:txBody>
      </p:sp>
      <p:sp>
        <p:nvSpPr>
          <p:cNvPr id="3" name="Content Placeholder 2">
            <a:extLst>
              <a:ext uri="{FF2B5EF4-FFF2-40B4-BE49-F238E27FC236}">
                <a16:creationId xmlns:a16="http://schemas.microsoft.com/office/drawing/2014/main" id="{2B1F0066-00A6-478D-914F-FA1FBC0F0288}"/>
              </a:ext>
            </a:extLst>
          </p:cNvPr>
          <p:cNvSpPr>
            <a:spLocks noGrp="1"/>
          </p:cNvSpPr>
          <p:nvPr>
            <p:ph idx="1"/>
          </p:nvPr>
        </p:nvSpPr>
        <p:spPr>
          <a:xfrm>
            <a:off x="1484310" y="2667000"/>
            <a:ext cx="10018713" cy="3057940"/>
          </a:xfrm>
        </p:spPr>
        <p:txBody>
          <a:bodyPr>
            <a:normAutofit lnSpcReduction="10000"/>
          </a:bodyPr>
          <a:lstStyle/>
          <a:p>
            <a:r>
              <a:rPr lang="en-US" dirty="0">
                <a:latin typeface="Times New Roman" panose="02020603050405020304" pitchFamily="18" charset="0"/>
                <a:cs typeface="Times New Roman" panose="02020603050405020304" pitchFamily="18" charset="0"/>
              </a:rPr>
              <a:t>Cloud computing relies on cloud computing platforms which are integrated with the Java Collection Framework.</a:t>
            </a:r>
          </a:p>
          <a:p>
            <a:r>
              <a:rPr lang="en-US" dirty="0">
                <a:latin typeface="Times New Roman" panose="02020603050405020304" pitchFamily="18" charset="0"/>
                <a:cs typeface="Times New Roman" panose="02020603050405020304" pitchFamily="18" charset="0"/>
              </a:rPr>
              <a:t>.The integration's goal is to make data administration easier for developers creating cloud-based apps.</a:t>
            </a:r>
          </a:p>
          <a:p>
            <a:r>
              <a:rPr lang="en-US" dirty="0">
                <a:latin typeface="Times New Roman" panose="02020603050405020304" pitchFamily="18" charset="0"/>
                <a:cs typeface="Times New Roman" panose="02020603050405020304" pitchFamily="18" charset="0"/>
              </a:rPr>
              <a:t>When storing data in the cloud, for example, the storage configuration data is S3 bucket in Amazon Web Services, or when managing key-value pairs in a NoSQL database such as Mongo DB, the Java Collection Framework provides the essential tools</a:t>
            </a:r>
          </a:p>
        </p:txBody>
      </p:sp>
      <p:pic>
        <p:nvPicPr>
          <p:cNvPr id="5" name="Picture 4">
            <a:extLst>
              <a:ext uri="{FF2B5EF4-FFF2-40B4-BE49-F238E27FC236}">
                <a16:creationId xmlns:a16="http://schemas.microsoft.com/office/drawing/2014/main" id="{3F066B0A-CBF5-4271-8F9F-359B4875DB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0876" y="604189"/>
            <a:ext cx="1813960" cy="1813960"/>
          </a:xfrm>
          <a:prstGeom prst="rect">
            <a:avLst/>
          </a:prstGeom>
        </p:spPr>
      </p:pic>
      <p:pic>
        <p:nvPicPr>
          <p:cNvPr id="7" name="Picture 6">
            <a:extLst>
              <a:ext uri="{FF2B5EF4-FFF2-40B4-BE49-F238E27FC236}">
                <a16:creationId xmlns:a16="http://schemas.microsoft.com/office/drawing/2014/main" id="{E0E3445A-26AB-444F-A11B-7328DCF49F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6807" y="367748"/>
            <a:ext cx="3272460" cy="2050401"/>
          </a:xfrm>
          <a:prstGeom prst="rect">
            <a:avLst/>
          </a:prstGeom>
        </p:spPr>
      </p:pic>
    </p:spTree>
    <p:extLst>
      <p:ext uri="{BB962C8B-B14F-4D97-AF65-F5344CB8AC3E}">
        <p14:creationId xmlns:p14="http://schemas.microsoft.com/office/powerpoint/2010/main" val="308593403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F8DD9-0E2B-494A-B506-0045EB06298E}"/>
              </a:ext>
            </a:extLst>
          </p:cNvPr>
          <p:cNvSpPr>
            <a:spLocks noGrp="1"/>
          </p:cNvSpPr>
          <p:nvPr>
            <p:ph type="title"/>
          </p:nvPr>
        </p:nvSpPr>
        <p:spPr>
          <a:xfrm>
            <a:off x="1484311" y="381000"/>
            <a:ext cx="10018713" cy="1752599"/>
          </a:xfrm>
        </p:spPr>
        <p:txBody>
          <a:bodyPr/>
          <a:lstStyle/>
          <a:p>
            <a:pPr algn="ctr"/>
            <a:r>
              <a:rPr lang="en-US" b="1" dirty="0">
                <a:latin typeface="Times New Roman" panose="02020603050405020304" pitchFamily="18" charset="0"/>
                <a:cs typeface="Times New Roman" panose="02020603050405020304" pitchFamily="18" charset="0"/>
              </a:rPr>
              <a:t>Microservices</a:t>
            </a:r>
          </a:p>
        </p:txBody>
      </p:sp>
      <p:sp>
        <p:nvSpPr>
          <p:cNvPr id="3" name="Content Placeholder 2">
            <a:extLst>
              <a:ext uri="{FF2B5EF4-FFF2-40B4-BE49-F238E27FC236}">
                <a16:creationId xmlns:a16="http://schemas.microsoft.com/office/drawing/2014/main" id="{34F31D4F-A526-4CC5-9FD3-E1B9B3256A0B}"/>
              </a:ext>
            </a:extLst>
          </p:cNvPr>
          <p:cNvSpPr>
            <a:spLocks noGrp="1"/>
          </p:cNvSpPr>
          <p:nvPr>
            <p:ph idx="1"/>
          </p:nvPr>
        </p:nvSpPr>
        <p:spPr>
          <a:xfrm>
            <a:off x="1484311" y="1972916"/>
            <a:ext cx="6851307" cy="3124201"/>
          </a:xfrm>
        </p:spPr>
        <p:txBody>
          <a:bodyPr/>
          <a:lstStyle/>
          <a:p>
            <a:r>
              <a:rPr lang="en-US" dirty="0">
                <a:latin typeface="Times New Roman" panose="02020603050405020304" pitchFamily="18" charset="0"/>
                <a:cs typeface="Times New Roman" panose="02020603050405020304" pitchFamily="18" charset="0"/>
              </a:rPr>
              <a:t>Microservices refers to software architectural style where applications are developed as a collection of distributed services, each with its unique role.</a:t>
            </a:r>
          </a:p>
          <a:p>
            <a:r>
              <a:rPr lang="en-US" dirty="0">
                <a:latin typeface="Times New Roman" panose="02020603050405020304" pitchFamily="18" charset="0"/>
                <a:cs typeface="Times New Roman" panose="02020603050405020304" pitchFamily="18" charset="0"/>
              </a:rPr>
              <a:t>Java Collection Framework enables lightweight and self-contained components.</a:t>
            </a:r>
          </a:p>
          <a:p>
            <a:r>
              <a:rPr lang="en-US" dirty="0">
                <a:latin typeface="Times New Roman" panose="02020603050405020304" pitchFamily="18" charset="0"/>
                <a:cs typeface="Times New Roman" panose="02020603050405020304" pitchFamily="18" charset="0"/>
              </a:rPr>
              <a:t>It ensures data sharing and management is extremely efficient</a:t>
            </a:r>
          </a:p>
          <a:p>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2866ACA-4F51-4483-8412-07A05B3286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5618" y="1701164"/>
            <a:ext cx="3737112" cy="3135879"/>
          </a:xfrm>
          <a:prstGeom prst="rect">
            <a:avLst/>
          </a:prstGeom>
        </p:spPr>
      </p:pic>
    </p:spTree>
    <p:extLst>
      <p:ext uri="{BB962C8B-B14F-4D97-AF65-F5344CB8AC3E}">
        <p14:creationId xmlns:p14="http://schemas.microsoft.com/office/powerpoint/2010/main" val="5698450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EA6DF-D60A-436F-9856-7CC0F51FB112}"/>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Challenges</a:t>
            </a:r>
          </a:p>
        </p:txBody>
      </p:sp>
      <p:sp>
        <p:nvSpPr>
          <p:cNvPr id="3" name="Content Placeholder 2">
            <a:extLst>
              <a:ext uri="{FF2B5EF4-FFF2-40B4-BE49-F238E27FC236}">
                <a16:creationId xmlns:a16="http://schemas.microsoft.com/office/drawing/2014/main" id="{95BD51A3-0286-414D-BA2E-DC5ADA3CE500}"/>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Lack of support for persistent data structures.</a:t>
            </a:r>
          </a:p>
          <a:p>
            <a:r>
              <a:rPr lang="en-US" dirty="0">
                <a:latin typeface="Times New Roman" panose="02020603050405020304" pitchFamily="18" charset="0"/>
                <a:cs typeface="Times New Roman" panose="02020603050405020304" pitchFamily="18" charset="0"/>
              </a:rPr>
              <a:t>These persistent data structures allow applications to store and generate previous data versions.</a:t>
            </a:r>
          </a:p>
          <a:p>
            <a:r>
              <a:rPr lang="en-US" dirty="0">
                <a:latin typeface="Times New Roman" panose="02020603050405020304" pitchFamily="18" charset="0"/>
                <a:cs typeface="Times New Roman" panose="02020603050405020304" pitchFamily="18" charset="0"/>
              </a:rPr>
              <a:t>These data structures are essential in applications like version control systems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253069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6298D8-C6B8-4BE6-8D2B-5C5BA0EFCF4F}"/>
              </a:ext>
            </a:extLst>
          </p:cNvPr>
          <p:cNvSpPr>
            <a:spLocks noGrp="1"/>
          </p:cNvSpPr>
          <p:nvPr>
            <p:ph idx="1"/>
          </p:nvPr>
        </p:nvSpPr>
        <p:spPr>
          <a:xfrm>
            <a:off x="1500808" y="789092"/>
            <a:ext cx="10515600" cy="5279816"/>
          </a:xfrm>
        </p:spPr>
        <p:txBody>
          <a:bodyPr/>
          <a:lstStyle/>
          <a:p>
            <a:r>
              <a:rPr lang="en-US" dirty="0">
                <a:latin typeface="Times New Roman" panose="02020603050405020304" pitchFamily="18" charset="0"/>
                <a:cs typeface="Times New Roman" panose="02020603050405020304" pitchFamily="18" charset="0"/>
              </a:rPr>
              <a:t>Lack of Parallelism.</a:t>
            </a:r>
          </a:p>
          <a:p>
            <a:r>
              <a:rPr lang="en-US" dirty="0">
                <a:latin typeface="Times New Roman" panose="02020603050405020304" pitchFamily="18" charset="0"/>
                <a:cs typeface="Times New Roman" panose="02020603050405020304" pitchFamily="18" charset="0"/>
              </a:rPr>
              <a:t>Parallelism in Java refers to breaking down a problem into subproblems and solving each one concurrently before integrating the results.</a:t>
            </a:r>
          </a:p>
          <a:p>
            <a:r>
              <a:rPr lang="en-US" dirty="0">
                <a:latin typeface="Times New Roman" panose="02020603050405020304" pitchFamily="18" charset="0"/>
                <a:cs typeface="Times New Roman" panose="02020603050405020304" pitchFamily="18" charset="0"/>
              </a:rPr>
              <a:t>Not every standard collection can be parallelized within the framework presenting a challenge.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887522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B6D92-D451-439F-8F66-8C9825230D29}"/>
              </a:ext>
            </a:extLst>
          </p:cNvPr>
          <p:cNvSpPr>
            <a:spLocks noGrp="1"/>
          </p:cNvSpPr>
          <p:nvPr>
            <p:ph type="title"/>
          </p:nvPr>
        </p:nvSpPr>
        <p:spPr/>
        <p:txBody>
          <a:bodyPr>
            <a:normAutofit/>
          </a:bodyPr>
          <a:lstStyle/>
          <a:p>
            <a:pPr algn="ctr"/>
            <a:r>
              <a:rPr lang="en-US" sz="48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ECC0F762-538B-4226-B3A2-5C4EA50C7E81}"/>
              </a:ext>
            </a:extLst>
          </p:cNvPr>
          <p:cNvSpPr>
            <a:spLocks noGrp="1"/>
          </p:cNvSpPr>
          <p:nvPr>
            <p:ph idx="1"/>
          </p:nvPr>
        </p:nvSpPr>
        <p:spPr/>
        <p:txBody>
          <a:bodyPr/>
          <a:lstStyle/>
          <a:p>
            <a:pPr marL="0" marR="0">
              <a:lnSpc>
                <a:spcPct val="200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	Horstmann, C. S. (2019). Core Java Volume I - Fundamentals (11th ed.). Pearson.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200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Jules, S., &amp; Anderson, M. (2019). Big Data Processing with Hadoop. O'Reilly Media.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200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[3]	Oracle. (2020). The Java™ Tutorials - Collections. Oracle Documentation.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200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[4]	Vohra, A. (2020). Java Microservices. Apress.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39121002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1A9F9826-882C-40B9-8F38-5A3B8CFD19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91</TotalTime>
  <Words>1640</Words>
  <Application>Microsoft Office PowerPoint</Application>
  <PresentationFormat>Widescreen</PresentationFormat>
  <Paragraphs>77</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Corbel</vt:lpstr>
      <vt:lpstr>Times New Roman</vt:lpstr>
      <vt:lpstr>Parallax</vt:lpstr>
      <vt:lpstr>Java Collection Framework</vt:lpstr>
      <vt:lpstr>Introduction</vt:lpstr>
      <vt:lpstr>Development and Evolution</vt:lpstr>
      <vt:lpstr>PowerPoint Presentation</vt:lpstr>
      <vt:lpstr>PowerPoint Presentation</vt:lpstr>
      <vt:lpstr>JCF Applications</vt:lpstr>
      <vt:lpstr>Big Data</vt:lpstr>
      <vt:lpstr>Cloud Computing</vt:lpstr>
      <vt:lpstr>Microservices</vt:lpstr>
      <vt:lpstr>Challenges</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Mohammed Abdul Mannan</cp:lastModifiedBy>
  <cp:revision>93</cp:revision>
  <dcterms:created xsi:type="dcterms:W3CDTF">2023-11-09T06:23:39Z</dcterms:created>
  <dcterms:modified xsi:type="dcterms:W3CDTF">2023-11-17T02:02:27Z</dcterms:modified>
</cp:coreProperties>
</file>